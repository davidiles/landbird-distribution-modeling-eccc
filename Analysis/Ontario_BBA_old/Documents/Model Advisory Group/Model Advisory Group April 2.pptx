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FFAD89-7A05-486D-85A3-95CF7023C173}" v="1" dt="2026-03-25T15:53:49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89" d="100"/>
          <a:sy n="89" d="100"/>
        </p:scale>
        <p:origin x="34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les,David (ECCC)" userId="72008f15-4095-4710-a240-901fac434eb4" providerId="ADAL" clId="{8D2A2A53-7570-42B0-9F7F-488D17FE83E3}"/>
    <pc:docChg chg="custSel addSld modSld">
      <pc:chgData name="Iles,David (ECCC)" userId="72008f15-4095-4710-a240-901fac434eb4" providerId="ADAL" clId="{8D2A2A53-7570-42B0-9F7F-488D17FE83E3}" dt="2026-03-25T15:55:25.318" v="331" actId="20577"/>
      <pc:docMkLst>
        <pc:docMk/>
      </pc:docMkLst>
      <pc:sldChg chg="modSp mod">
        <pc:chgData name="Iles,David (ECCC)" userId="72008f15-4095-4710-a240-901fac434eb4" providerId="ADAL" clId="{8D2A2A53-7570-42B0-9F7F-488D17FE83E3}" dt="2026-03-25T15:53:45.552" v="8" actId="21"/>
        <pc:sldMkLst>
          <pc:docMk/>
          <pc:sldMk cId="3704134659" sldId="261"/>
        </pc:sldMkLst>
        <pc:spChg chg="mod">
          <ac:chgData name="Iles,David (ECCC)" userId="72008f15-4095-4710-a240-901fac434eb4" providerId="ADAL" clId="{8D2A2A53-7570-42B0-9F7F-488D17FE83E3}" dt="2026-03-25T15:53:45.552" v="8" actId="21"/>
          <ac:spMkLst>
            <pc:docMk/>
            <pc:sldMk cId="3704134659" sldId="261"/>
            <ac:spMk id="3" creationId="{3CA93A76-69FF-A2FF-B942-84C986E910F3}"/>
          </ac:spMkLst>
        </pc:spChg>
      </pc:sldChg>
      <pc:sldChg chg="modSp new mod">
        <pc:chgData name="Iles,David (ECCC)" userId="72008f15-4095-4710-a240-901fac434eb4" providerId="ADAL" clId="{8D2A2A53-7570-42B0-9F7F-488D17FE83E3}" dt="2026-03-25T15:55:25.318" v="331" actId="20577"/>
        <pc:sldMkLst>
          <pc:docMk/>
          <pc:sldMk cId="3174530824" sldId="262"/>
        </pc:sldMkLst>
        <pc:spChg chg="mod">
          <ac:chgData name="Iles,David (ECCC)" userId="72008f15-4095-4710-a240-901fac434eb4" providerId="ADAL" clId="{8D2A2A53-7570-42B0-9F7F-488D17FE83E3}" dt="2026-03-25T15:53:32.002" v="7" actId="20577"/>
          <ac:spMkLst>
            <pc:docMk/>
            <pc:sldMk cId="3174530824" sldId="262"/>
            <ac:spMk id="2" creationId="{8B84EC59-4E54-DB16-29D9-FEA202710BDC}"/>
          </ac:spMkLst>
        </pc:spChg>
        <pc:spChg chg="mod">
          <ac:chgData name="Iles,David (ECCC)" userId="72008f15-4095-4710-a240-901fac434eb4" providerId="ADAL" clId="{8D2A2A53-7570-42B0-9F7F-488D17FE83E3}" dt="2026-03-25T15:55:25.318" v="331" actId="20577"/>
          <ac:spMkLst>
            <pc:docMk/>
            <pc:sldMk cId="3174530824" sldId="262"/>
            <ac:spMk id="3" creationId="{1E18BD7D-ADD0-504D-BCB3-55D07C8037B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5D1D-BE3A-F00D-6C5B-7A5ADCE01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88D3E-A260-E594-29BF-66E89EFBE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E4992-DFDD-1303-4734-2647ED72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3D713-7D65-87C8-7EDD-7B64225EB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9C6A2-BDA9-A839-7EF0-DA7894CB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6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7762-D01D-72EB-233B-EFFC0B9E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805AB-A2A4-3435-A4F4-05B9BF2D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06BD3-F325-496B-3FC1-96D944D5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23BED-D496-17AE-19CE-FACF103B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AB9DF-7AAE-E790-1B5E-38D4D8D8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1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7F0ED-A3C1-D61E-C5C3-93B5B70F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C8FB8-243D-171E-4939-58942E88A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F6176-D7E5-80F0-0260-D552A037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6DC0B-0872-8BDD-3699-FC9C0C64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E586E-DF09-2ADB-C672-BA9CA835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78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C2AB-3D45-7A72-8503-36A931A0D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068D-419E-39AB-876F-796DE4985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28317-564B-A596-BAD8-5EB24FF2A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325C6-93F7-B156-386C-783A0A8F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B9FAFF-AE0E-0C9E-5025-3C79BC45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CBE50-E2CC-A246-A21E-EEBA0EE0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06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20AB-9849-BD2A-5525-8BA13F77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572A0-98C0-322E-D5E9-8F07AF53F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809F7-4561-104B-2645-A19A92ED7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31B1F-DC81-0214-1DDB-7B51F0A9D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52CA4-D1BA-7CE1-ACE5-EA45A14EB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C27E2-780A-5124-E875-DF7DDED05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A4F974-60E2-F29F-7AD8-1BE15AC3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9AA36-7BC9-1F31-4916-DC53A354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0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D5A3-FC46-3160-967D-00E162DE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02FC8-D644-B961-4E4B-C7B8A8FD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DB522-7364-870B-BFA9-A32F57B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6E8FB-1DF5-FAB8-273E-639A3E84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6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8FAE6-A082-41AB-9747-8100C2CD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F3532-EC15-91CC-7056-3E96FEF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06538-6B3D-3767-CD29-DF9E265A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1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E780-62E9-9D36-1377-74277654D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2E306-ED36-18A3-3F30-6F7666C08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7E50D-ACD6-250D-4978-6A7DF41F9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6C79D-8767-2231-8695-F40298F43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DF0E3-EB52-2B7C-77F8-58A73CCD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6CF4B-85B5-7E88-BC2C-BBE2CDF8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6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9E5C-A790-6B2B-D60F-5849A150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4049B-D3C8-7F44-C7A6-26706BD19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3127C-E37D-04BC-FCF2-CABF1E26D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B7C8B-D54E-29F2-E020-ABD9477F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92A7C-A297-3315-D5BB-452522D2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E9E89-AC00-6565-C693-F3891BFE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5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19C6-CE67-0F03-6ED8-A7032A04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190A6-2A9D-53F5-377F-E4D5F9EC9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7CC6D-20EA-2B96-F989-E47A2D2F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2627F-1D9C-80F1-4441-FB9F946C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A0ED0-29F2-1406-5749-E74DC594B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8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D5386-E6F0-DAB0-4DEE-8EF6C9C954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92E42-82B1-71E3-8AF6-06CF5BF22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CE141-5B6F-03A1-C169-CD0B967DC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E55C9-1C77-4606-56B0-AD361B8A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CF4B2-5F30-3E69-24A7-E530D860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28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676F2-7BBF-2E8D-D3CF-E6BF11F36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ADD05-C573-6DEF-6B78-63C23467B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F641C-582E-D14E-8BE6-A1E0B2994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0D036-BEAE-4D7E-934F-3896A47378C0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9D8B4-4D16-43FB-BA60-5C3988D9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65E10-7D7F-94BC-568D-78D61A59F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7BE49-3568-4BBA-B98C-41D782954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32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866A-DDFD-E2F2-136E-9914186F40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5A8A6-0746-D61F-D6DA-2B2AB42AA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4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504A-88DD-521A-1984-0F5034A0B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AA55-2031-DFAC-50C9-25765D0C9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EFFDA-57A1-21DD-9E2D-0E12AD5C7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Currently only considering 5-min point counts and ARU surveys</a:t>
            </a:r>
          </a:p>
          <a:p>
            <a:r>
              <a:rPr lang="en-US" dirty="0"/>
              <a:t>Filtered to species-specific safe dates (within each BCR)</a:t>
            </a:r>
          </a:p>
          <a:p>
            <a:r>
              <a:rPr lang="en-US" dirty="0"/>
              <a:t>Filtered to -1 to +6 hours since sunrise</a:t>
            </a:r>
          </a:p>
          <a:p>
            <a:r>
              <a:rPr lang="en-US" dirty="0"/>
              <a:t>Uses data from both atlases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992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AD17-D23C-6509-FD88-2315739E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945A9-10C5-3672-482A-C36B31598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Bayesian model fit using INLA / </a:t>
            </a:r>
            <a:r>
              <a:rPr lang="en-US" dirty="0" err="1"/>
              <a:t>inlabru</a:t>
            </a:r>
            <a:endParaRPr lang="en-US" dirty="0"/>
          </a:p>
          <a:p>
            <a:pPr lvl="1"/>
            <a:r>
              <a:rPr lang="en-US" dirty="0"/>
              <a:t>Spatial autocorrelation</a:t>
            </a:r>
          </a:p>
          <a:p>
            <a:pPr lvl="1"/>
            <a:r>
              <a:rPr lang="en-US" dirty="0"/>
              <a:t>Models fit in ~ 10 min</a:t>
            </a:r>
          </a:p>
          <a:p>
            <a:pPr lvl="1"/>
            <a:endParaRPr lang="en-US" dirty="0"/>
          </a:p>
          <a:p>
            <a:r>
              <a:rPr lang="en-US" dirty="0"/>
              <a:t>Predictions generated for 1 km pixels</a:t>
            </a:r>
          </a:p>
          <a:p>
            <a:pPr lvl="1"/>
            <a:r>
              <a:rPr lang="en-US" dirty="0"/>
              <a:t>Expected abundance in each atlas, </a:t>
            </a:r>
            <a:r>
              <a:rPr lang="en-US" dirty="0" err="1"/>
              <a:t>PObs</a:t>
            </a:r>
            <a:r>
              <a:rPr lang="en-US" dirty="0"/>
              <a:t>, population change</a:t>
            </a:r>
          </a:p>
          <a:p>
            <a:pPr lvl="1"/>
            <a:r>
              <a:rPr lang="en-US" dirty="0"/>
              <a:t>Each pixel has 1000 predictions (posterior draws)</a:t>
            </a:r>
          </a:p>
          <a:p>
            <a:pPr lvl="1"/>
            <a:r>
              <a:rPr lang="en-US" dirty="0"/>
              <a:t>Uncertainty represented by the collection of posterior draws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4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3F52-D7C8-2361-B3C7-1D328DDE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6EA0A-7491-5279-95AB-F6D3AD9D1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Covariate effects assumed to influence abundance</a:t>
            </a:r>
          </a:p>
          <a:p>
            <a:pPr lvl="1"/>
            <a:r>
              <a:rPr lang="en-US" dirty="0"/>
              <a:t>Assumes linear responses on log scale</a:t>
            </a:r>
          </a:p>
          <a:p>
            <a:pPr lvl="2"/>
            <a:r>
              <a:rPr lang="en-US" b="1" dirty="0"/>
              <a:t>Land cover (MODIS) - proportion</a:t>
            </a:r>
          </a:p>
          <a:p>
            <a:pPr lvl="3"/>
            <a:r>
              <a:rPr lang="en-US" dirty="0"/>
              <a:t>10 classes, some of which are separated into “northern” and “southern” effects</a:t>
            </a:r>
          </a:p>
          <a:p>
            <a:pPr lvl="3"/>
            <a:r>
              <a:rPr lang="en-US" dirty="0"/>
              <a:t>Allows for estimating change since 2000</a:t>
            </a:r>
          </a:p>
          <a:p>
            <a:pPr lvl="2"/>
            <a:r>
              <a:rPr lang="en-US" b="1" dirty="0"/>
              <a:t>Dense urban population (&gt;500 people / km^2) - proportion</a:t>
            </a:r>
          </a:p>
          <a:p>
            <a:pPr lvl="2"/>
            <a:r>
              <a:rPr lang="en-US" b="1" dirty="0"/>
              <a:t>Insect defoliation (moderate to severe) - proportion</a:t>
            </a:r>
          </a:p>
          <a:p>
            <a:pPr lvl="3"/>
            <a:r>
              <a:rPr lang="en-US" dirty="0"/>
              <a:t>Needleleaf defoliators (spruce &amp; </a:t>
            </a:r>
            <a:r>
              <a:rPr lang="en-US" dirty="0" err="1"/>
              <a:t>jackpine</a:t>
            </a:r>
            <a:r>
              <a:rPr lang="en-US" dirty="0"/>
              <a:t> budworm)</a:t>
            </a:r>
          </a:p>
          <a:p>
            <a:pPr lvl="3"/>
            <a:r>
              <a:rPr lang="en-US" dirty="0"/>
              <a:t>Broadleaf defoliators (forest tent caterpillar, gypsy moth)</a:t>
            </a:r>
          </a:p>
          <a:p>
            <a:pPr lvl="2"/>
            <a:r>
              <a:rPr lang="en-US" b="1" dirty="0"/>
              <a:t>Climate (</a:t>
            </a:r>
            <a:r>
              <a:rPr lang="en-US" b="1" dirty="0" err="1"/>
              <a:t>WorldClim</a:t>
            </a:r>
            <a:r>
              <a:rPr lang="en-US" b="1" dirty="0"/>
              <a:t> 2.1) - mean</a:t>
            </a:r>
          </a:p>
          <a:p>
            <a:pPr lvl="3"/>
            <a:r>
              <a:rPr lang="en-US" dirty="0"/>
              <a:t>Maximum spring temperature (5 year average)</a:t>
            </a:r>
          </a:p>
          <a:p>
            <a:pPr lvl="3"/>
            <a:r>
              <a:rPr lang="en-US" dirty="0"/>
              <a:t>Spring precipitation (5 year average)</a:t>
            </a:r>
          </a:p>
          <a:p>
            <a:pPr lvl="2"/>
            <a:r>
              <a:rPr lang="en-US" b="1" dirty="0"/>
              <a:t>River within 1 km pixel – 0 or 1</a:t>
            </a:r>
          </a:p>
          <a:p>
            <a:pPr lvl="2"/>
            <a:r>
              <a:rPr lang="en-US" b="1" dirty="0"/>
              <a:t>Road within 1 km pixel – 0 or 1</a:t>
            </a:r>
          </a:p>
          <a:p>
            <a:pPr lvl="3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16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EE01-DB1D-7A7B-83E4-FBD7CF6C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F419C-A74D-F55F-1424-715B5557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D397-5F36-F000-37ED-F4CBF71AB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Covariate effects assumed to influence detectability</a:t>
            </a:r>
          </a:p>
          <a:p>
            <a:pPr lvl="1"/>
            <a:r>
              <a:rPr lang="en-US" dirty="0"/>
              <a:t>Survey type (human point count vs ARU)</a:t>
            </a:r>
          </a:p>
          <a:p>
            <a:pPr lvl="1"/>
            <a:r>
              <a:rPr lang="en-US" dirty="0"/>
              <a:t>Hours since sunrise (fit as spline effect)</a:t>
            </a:r>
          </a:p>
          <a:p>
            <a:pPr lvl="1"/>
            <a:r>
              <a:rPr lang="en-US" dirty="0"/>
              <a:t>Day of year (fit as spline effect)</a:t>
            </a:r>
          </a:p>
          <a:p>
            <a:pPr lvl="1"/>
            <a:endParaRPr lang="en-US" dirty="0"/>
          </a:p>
          <a:p>
            <a:r>
              <a:rPr lang="en-US" dirty="0"/>
              <a:t>Random effects</a:t>
            </a:r>
          </a:p>
          <a:p>
            <a:pPr lvl="1"/>
            <a:r>
              <a:rPr lang="en-US" dirty="0"/>
              <a:t>Spatial autocorrelation in relative abundance</a:t>
            </a:r>
          </a:p>
          <a:p>
            <a:pPr lvl="1"/>
            <a:r>
              <a:rPr lang="en-US" dirty="0"/>
              <a:t>Spatial autocorrelation in population change</a:t>
            </a:r>
          </a:p>
          <a:p>
            <a:pPr lvl="1"/>
            <a:r>
              <a:rPr lang="en-US" dirty="0"/>
              <a:t>Square-level random effects (</a:t>
            </a:r>
            <a:r>
              <a:rPr lang="en-US" dirty="0" err="1"/>
              <a:t>iid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335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F71F-17C4-ADA6-17B2-2475858C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93A76-69FF-A2FF-B942-84C986E91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is fit to data from both atlases simultaneously</a:t>
            </a:r>
          </a:p>
          <a:p>
            <a:r>
              <a:rPr lang="en-US" dirty="0"/>
              <a:t>Estimates all parameters</a:t>
            </a:r>
          </a:p>
          <a:p>
            <a:r>
              <a:rPr lang="en-US" dirty="0"/>
              <a:t>Relative abundance depends on covariate effects, and spatial autocorrelation surfaces</a:t>
            </a:r>
          </a:p>
          <a:p>
            <a:r>
              <a:rPr lang="en-US" dirty="0"/>
              <a:t>Change is estimated as the difference between A2 and A3 surfaces</a:t>
            </a:r>
          </a:p>
        </p:txBody>
      </p:sp>
    </p:spTree>
    <p:extLst>
      <p:ext uri="{BB962C8B-B14F-4D97-AF65-F5344CB8AC3E}">
        <p14:creationId xmlns:p14="http://schemas.microsoft.com/office/powerpoint/2010/main" val="370413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EC59-4E54-DB16-29D9-FEA20271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8BD7D-ADD0-504D-BCB3-55D07C80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Relative abundance</a:t>
            </a:r>
          </a:p>
          <a:p>
            <a:r>
              <a:rPr lang="en-US" dirty="0"/>
              <a:t>Population change</a:t>
            </a:r>
          </a:p>
          <a:p>
            <a:r>
              <a:rPr lang="en-US" dirty="0"/>
              <a:t>Uncertainty quantified by posterior draws</a:t>
            </a:r>
          </a:p>
          <a:p>
            <a:pPr lvl="1"/>
            <a:r>
              <a:rPr lang="en-US" dirty="0"/>
              <a:t>At the 1-km pixel level, but can be aggregated to any scale larger than that</a:t>
            </a:r>
          </a:p>
          <a:p>
            <a:pPr lvl="1"/>
            <a:r>
              <a:rPr lang="en-US" dirty="0"/>
              <a:t>E.g., 1000 posterior draws of relative abundance in custom polygons</a:t>
            </a:r>
          </a:p>
          <a:p>
            <a:pPr lvl="1"/>
            <a:endParaRPr lang="en-US" dirty="0"/>
          </a:p>
          <a:p>
            <a:r>
              <a:rPr lang="en-US" dirty="0"/>
              <a:t>Examples of outputs</a:t>
            </a:r>
          </a:p>
        </p:txBody>
      </p:sp>
    </p:spTree>
    <p:extLst>
      <p:ext uri="{BB962C8B-B14F-4D97-AF65-F5344CB8AC3E}">
        <p14:creationId xmlns:p14="http://schemas.microsoft.com/office/powerpoint/2010/main" val="317453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341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Data Overview</vt:lpstr>
      <vt:lpstr>Model Overview</vt:lpstr>
      <vt:lpstr>Model Overview</vt:lpstr>
      <vt:lpstr>Model Overview</vt:lpstr>
      <vt:lpstr>Model Overview</vt:lpstr>
      <vt:lpstr>Outputs</vt:lpstr>
    </vt:vector>
  </TitlesOfParts>
  <Company>Environment and Climate Change Canada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Iles,David (ECCC)</dc:creator>
  <cp:lastModifiedBy>Iles,David (ECCC)</cp:lastModifiedBy>
  <cp:revision>1</cp:revision>
  <dcterms:created xsi:type="dcterms:W3CDTF">2026-03-25T15:20:18Z</dcterms:created>
  <dcterms:modified xsi:type="dcterms:W3CDTF">2026-03-25T15:55:28Z</dcterms:modified>
</cp:coreProperties>
</file>